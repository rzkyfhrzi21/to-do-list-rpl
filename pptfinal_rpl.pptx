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58" r:id="rId7"/>
    <p:sldId id="273" r:id="rId8"/>
    <p:sldId id="274" r:id="rId9"/>
    <p:sldId id="271" r:id="rId10"/>
    <p:sldId id="261" r:id="rId11"/>
    <p:sldId id="262" r:id="rId12"/>
    <p:sldId id="270" r:id="rId13"/>
    <p:sldId id="263" r:id="rId14"/>
    <p:sldId id="264" r:id="rId15"/>
    <p:sldId id="265" r:id="rId16"/>
    <p:sldId id="266" r:id="rId17"/>
    <p:sldId id="267" r:id="rId18"/>
    <p:sldId id="268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14" autoAdjust="0"/>
  </p:normalViewPr>
  <p:slideViewPr>
    <p:cSldViewPr showGuides="1">
      <p:cViewPr varScale="1">
        <p:scale>
          <a:sx n="78" d="100"/>
          <a:sy n="78" d="100"/>
        </p:scale>
        <p:origin x="1598" y="62"/>
      </p:cViewPr>
      <p:guideLst>
        <p:guide orient="horz" pos="21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9928C-5161-4F4A-A13B-2614C4ED3442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44D80-8077-4DA9-B045-EEE3397A2410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20688"/>
            <a:ext cx="7772400" cy="1470025"/>
          </a:xfrm>
        </p:spPr>
        <p:txBody>
          <a:bodyPr/>
          <a:lstStyle/>
          <a:p>
            <a:r>
              <a:rPr lang="en-US" dirty="0"/>
              <a:t>Website to do list</a:t>
            </a:r>
            <a:endParaRPr lang="en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2564904"/>
            <a:ext cx="6400800" cy="3024336"/>
          </a:xfrm>
        </p:spPr>
        <p:txBody>
          <a:bodyPr>
            <a:normAutofit fontScale="70000" lnSpcReduction="20000"/>
          </a:bodyPr>
          <a:lstStyle/>
          <a:p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Rekayasa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Lunak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website To-Do List 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Dosen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Pengampu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Isnandar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Agus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S.Kom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M.KOM 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Disusun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Oleh: </a:t>
            </a:r>
            <a:endParaRPr lang="id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Ahmad Mulia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Adinata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(2311010113) 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Felly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Ananta Novta (2311010043) 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Instansi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Jurusan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Teknik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endParaRPr lang="id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IBI </a:t>
            </a: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Darmajaya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87624" y="692696"/>
            <a:ext cx="67504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b="1" dirty="0"/>
              <a:t>1.1 </a:t>
            </a:r>
            <a:r>
              <a:rPr lang="en-ID" b="1" dirty="0" err="1"/>
              <a:t>Permasalahan</a:t>
            </a:r>
            <a:endParaRPr lang="en-ID" dirty="0"/>
          </a:p>
          <a:p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lupa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, </a:t>
            </a:r>
            <a:r>
              <a:rPr lang="en-ID" dirty="0" err="1"/>
              <a:t>lupa</a:t>
            </a:r>
            <a:r>
              <a:rPr lang="en-ID" dirty="0"/>
              <a:t> deadline,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terorganisir</a:t>
            </a:r>
            <a:r>
              <a:rPr lang="en-ID" dirty="0"/>
              <a:t>.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media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meninjau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proses </a:t>
            </a:r>
            <a:r>
              <a:rPr lang="en-ID" dirty="0" err="1"/>
              <a:t>pengaturan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.</a:t>
            </a:r>
            <a:endParaRPr lang="en-ID" dirty="0"/>
          </a:p>
          <a:p>
            <a:r>
              <a:rPr lang="en-ID" b="1" dirty="0"/>
              <a:t>1.2 </a:t>
            </a:r>
            <a:r>
              <a:rPr lang="en-ID" b="1" dirty="0" err="1"/>
              <a:t>Latar</a:t>
            </a:r>
            <a:r>
              <a:rPr lang="en-ID" b="1" dirty="0"/>
              <a:t> </a:t>
            </a:r>
            <a:r>
              <a:rPr lang="en-ID" b="1" dirty="0" err="1"/>
              <a:t>Belakang</a:t>
            </a:r>
            <a:endParaRPr lang="en-ID" dirty="0"/>
          </a:p>
          <a:p>
            <a:r>
              <a:rPr lang="en-ID" dirty="0" err="1"/>
              <a:t>Aplikasi</a:t>
            </a:r>
            <a:r>
              <a:rPr lang="en-ID" dirty="0"/>
              <a:t> To-Do List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ringan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catatan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,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menambah</a:t>
            </a:r>
            <a:r>
              <a:rPr lang="en-ID" dirty="0"/>
              <a:t>, </a:t>
            </a:r>
            <a:r>
              <a:rPr lang="en-ID" dirty="0" err="1"/>
              <a:t>mengedit</a:t>
            </a:r>
            <a:r>
              <a:rPr lang="en-ID" dirty="0"/>
              <a:t>, </a:t>
            </a:r>
            <a:r>
              <a:rPr lang="en-ID" dirty="0" err="1"/>
              <a:t>menghapus</a:t>
            </a:r>
            <a:r>
              <a:rPr lang="en-ID" dirty="0"/>
              <a:t>,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selesai</a:t>
            </a:r>
            <a:r>
              <a:rPr lang="en-ID" dirty="0"/>
              <a:t> </a:t>
            </a:r>
            <a:r>
              <a:rPr lang="en-ID" dirty="0" err="1"/>
              <a:t>pada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sangat</a:t>
            </a:r>
            <a:r>
              <a:rPr lang="en-ID" dirty="0"/>
              <a:t> </a:t>
            </a:r>
            <a:r>
              <a:rPr lang="en-ID" dirty="0" err="1"/>
              <a:t>bermanfaat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.</a:t>
            </a:r>
            <a:endParaRPr lang="en-ID" dirty="0"/>
          </a:p>
          <a:p>
            <a:r>
              <a:rPr lang="en-ID" b="1" dirty="0"/>
              <a:t>1.3 </a:t>
            </a:r>
            <a:r>
              <a:rPr lang="en-ID" b="1" dirty="0" err="1"/>
              <a:t>Tujuan</a:t>
            </a:r>
            <a:endParaRPr lang="en-ID" dirty="0"/>
          </a:p>
          <a:p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:</a:t>
            </a:r>
            <a:endParaRPr lang="en-ID" dirty="0"/>
          </a:p>
          <a:p>
            <a:pPr lvl="0"/>
            <a:r>
              <a:rPr lang="en-ID" dirty="0" err="1"/>
              <a:t>Menyediakan</a:t>
            </a:r>
            <a:r>
              <a:rPr lang="en-ID" dirty="0"/>
              <a:t> media </a:t>
            </a:r>
            <a:r>
              <a:rPr lang="en-ID" dirty="0" err="1"/>
              <a:t>pencatatan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yang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memantau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menandai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selesai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kapan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ataupun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deadline.</a:t>
            </a:r>
            <a:endParaRPr lang="en-ID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waterfal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Komunikasi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Perencanaan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Pemodelan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Pengujian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implementasi</a:t>
            </a:r>
            <a:endParaRPr lang="en-US" dirty="0"/>
          </a:p>
          <a:p>
            <a:pPr marL="514350" indent="-514350">
              <a:buAutoNum type="arabicPeriod"/>
            </a:pPr>
            <a:endParaRPr lang="en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Pengumpulan</a:t>
            </a:r>
            <a:r>
              <a:rPr lang="en-ID" dirty="0"/>
              <a:t> Data (Collecting)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pengumpulan</a:t>
            </a:r>
            <a:r>
              <a:rPr lang="en-ID" dirty="0"/>
              <a:t> data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. </a:t>
            </a:r>
            <a:r>
              <a:rPr lang="en-ID" dirty="0" err="1"/>
              <a:t>Pengumpulan</a:t>
            </a:r>
            <a:r>
              <a:rPr lang="en-ID" dirty="0"/>
              <a:t> data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:</a:t>
            </a:r>
            <a:endParaRPr lang="en-ID" dirty="0"/>
          </a:p>
          <a:p>
            <a:pPr lvl="0"/>
            <a:r>
              <a:rPr lang="en-ID" b="1" dirty="0" err="1"/>
              <a:t>Observasi</a:t>
            </a:r>
            <a:r>
              <a:rPr lang="en-ID" b="1" dirty="0"/>
              <a:t> </a:t>
            </a:r>
            <a:r>
              <a:rPr lang="en-ID" b="1" dirty="0" err="1"/>
              <a:t>sederhana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 (di </a:t>
            </a:r>
            <a:r>
              <a:rPr lang="en-ID" dirty="0" err="1"/>
              <a:t>buku</a:t>
            </a:r>
            <a:r>
              <a:rPr lang="en-ID" dirty="0"/>
              <a:t>, </a:t>
            </a:r>
            <a:r>
              <a:rPr lang="en-ID" dirty="0" err="1"/>
              <a:t>catatan</a:t>
            </a:r>
            <a:r>
              <a:rPr lang="en-ID" dirty="0"/>
              <a:t> HP,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lain).</a:t>
            </a:r>
            <a:endParaRPr lang="en-ID" dirty="0"/>
          </a:p>
          <a:p>
            <a:pPr lvl="0"/>
            <a:r>
              <a:rPr lang="en-ID" b="1" dirty="0" err="1"/>
              <a:t>Diskusi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pengguna</a:t>
            </a:r>
            <a:r>
              <a:rPr lang="en-ID" dirty="0"/>
              <a:t>, </a:t>
            </a:r>
            <a:r>
              <a:rPr lang="en-ID" dirty="0" err="1"/>
              <a:t>khususnya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yang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pencatatan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b="1" dirty="0" err="1"/>
              <a:t>Studi</a:t>
            </a:r>
            <a:r>
              <a:rPr lang="en-ID" b="1" dirty="0"/>
              <a:t> </a:t>
            </a:r>
            <a:r>
              <a:rPr lang="en-ID" b="1" dirty="0" err="1"/>
              <a:t>aplikasi</a:t>
            </a:r>
            <a:r>
              <a:rPr lang="en-ID" b="1" dirty="0"/>
              <a:t> </a:t>
            </a:r>
            <a:r>
              <a:rPr lang="en-ID" b="1" dirty="0" err="1"/>
              <a:t>sejenis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yang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.</a:t>
            </a:r>
            <a:endParaRPr lang="en-ID" dirty="0"/>
          </a:p>
          <a:p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pengumpulan</a:t>
            </a:r>
            <a:r>
              <a:rPr lang="en-ID" dirty="0"/>
              <a:t> data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sederhana</a:t>
            </a:r>
            <a:r>
              <a:rPr lang="en-ID" dirty="0"/>
              <a:t>,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,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pada</a:t>
            </a:r>
            <a:r>
              <a:rPr lang="en-ID" dirty="0"/>
              <a:t> </a:t>
            </a:r>
            <a:r>
              <a:rPr lang="en-ID" dirty="0" err="1"/>
              <a:t>pencatatan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yang </a:t>
            </a:r>
            <a:r>
              <a:rPr lang="en-ID" dirty="0" err="1"/>
              <a:t>membingungkan</a:t>
            </a:r>
            <a:r>
              <a:rPr lang="en-ID" dirty="0"/>
              <a:t>.</a:t>
            </a:r>
            <a:endParaRPr lang="en-ID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99268"/>
            <a:ext cx="8229600" cy="1143000"/>
          </a:xfrm>
        </p:spPr>
        <p:txBody>
          <a:bodyPr/>
          <a:lstStyle/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kebutuhan</a:t>
            </a:r>
            <a:endParaRPr lang="en-ID" dirty="0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4860290" y="909320"/>
            <a:ext cx="3903980" cy="49574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ID" b="1" dirty="0"/>
          </a:p>
          <a:p>
            <a:pPr lvl="0"/>
            <a:endParaRPr lang="en-US" altLang="en-ID" dirty="0"/>
          </a:p>
          <a:p>
            <a:pPr lvl="0"/>
            <a:endParaRPr lang="en-ID" dirty="0"/>
          </a:p>
          <a:p>
            <a:endParaRPr lang="en-ID" dirty="0"/>
          </a:p>
        </p:txBody>
      </p:sp>
      <p:sp>
        <p:nvSpPr>
          <p:cNvPr id="11" name="Text Box 10"/>
          <p:cNvSpPr txBox="1"/>
          <p:nvPr/>
        </p:nvSpPr>
        <p:spPr>
          <a:xfrm>
            <a:off x="35560" y="836930"/>
            <a:ext cx="4027805" cy="62471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/>
              <a:t>1.</a:t>
            </a:r>
            <a:r>
              <a:rPr lang="en-US" sz="1600" b="1"/>
              <a:t> </a:t>
            </a:r>
            <a:r>
              <a:rPr sz="1600" b="1"/>
              <a:t>Pengguna</a:t>
            </a:r>
            <a:endParaRPr sz="1600" b="1"/>
          </a:p>
          <a:p>
            <a:r>
              <a:rPr sz="900"/>
              <a:t> </a:t>
            </a:r>
            <a:r>
              <a:rPr sz="1400"/>
              <a:t>Digunakan untuk menyimpan data pengguna yang mengakses sistem.</a:t>
            </a:r>
            <a:endParaRPr sz="1400"/>
          </a:p>
          <a:p>
            <a:r>
              <a:rPr sz="1400"/>
              <a:t> Atribut: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Pengguna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Nama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Username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Password</a:t>
            </a:r>
            <a:endParaRPr sz="1400"/>
          </a:p>
          <a:p>
            <a:r>
              <a:rPr sz="1600" b="1"/>
              <a:t>2. Tugas</a:t>
            </a:r>
            <a:endParaRPr sz="1600" b="1"/>
          </a:p>
          <a:p>
            <a:r>
              <a:rPr sz="900"/>
              <a:t> </a:t>
            </a:r>
            <a:r>
              <a:rPr sz="1400"/>
              <a:t>Digunakan untuk menyimpan data tugas yang dibuat pengguna.</a:t>
            </a:r>
            <a:endParaRPr sz="1400"/>
          </a:p>
          <a:p>
            <a:r>
              <a:rPr sz="1400"/>
              <a:t> Atribut: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Tugas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Nama Tugas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Deskripsi Tugas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Pengguna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Waktu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Hari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Keterangan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Status Tugas</a:t>
            </a:r>
            <a:endParaRPr sz="1400"/>
          </a:p>
          <a:p>
            <a:r>
              <a:rPr sz="1600" b="1"/>
              <a:t>3. Waktu</a:t>
            </a:r>
            <a:endParaRPr sz="1600" b="1"/>
          </a:p>
          <a:p>
            <a:r>
              <a:rPr sz="1600"/>
              <a:t> </a:t>
            </a:r>
            <a:r>
              <a:rPr sz="1400"/>
              <a:t>Digunakan untuk menyimpan informasi waktu pelaksanaan atau deadline tugas.</a:t>
            </a:r>
            <a:endParaRPr sz="1400"/>
          </a:p>
          <a:p>
            <a:r>
              <a:rPr sz="1400"/>
              <a:t> Atribut: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ID Waktu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sz="1400"/>
              <a:t>Jam Mulai</a:t>
            </a:r>
            <a:endParaRPr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Jam Selesai / Deadline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endParaRPr sz="1400"/>
          </a:p>
        </p:txBody>
      </p:sp>
      <p:sp>
        <p:nvSpPr>
          <p:cNvPr id="12" name="Text Box 11"/>
          <p:cNvSpPr txBox="1"/>
          <p:nvPr/>
        </p:nvSpPr>
        <p:spPr>
          <a:xfrm>
            <a:off x="4427855" y="909320"/>
            <a:ext cx="4027805" cy="424624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en-US" altLang="en-US" sz="1600" b="1"/>
              <a:t>4. Entitas Hari</a:t>
            </a:r>
            <a:endParaRPr lang="en-US" altLang="en-US" sz="1600" b="1"/>
          </a:p>
          <a:p>
            <a:pPr indent="0">
              <a:buFont typeface="Arial" panose="020B0604020202020204"/>
              <a:buNone/>
            </a:pPr>
            <a:r>
              <a:rPr lang="en-US" altLang="en-US" sz="1400"/>
              <a:t>Digunakan untuk menyimpan informasi hari pelaksanaan tugas. </a:t>
            </a:r>
            <a:endParaRPr lang="en-US" altLang="en-US" sz="1400"/>
          </a:p>
          <a:p>
            <a:pPr indent="0">
              <a:buFont typeface="Arial" panose="020B0604020202020204"/>
              <a:buNone/>
            </a:pPr>
            <a:r>
              <a:rPr lang="en-US" altLang="en-US" sz="1400"/>
              <a:t>Atribut: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ID Hari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Nama Hari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Tanggal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endParaRPr lang="en-US" altLang="en-US" sz="1400"/>
          </a:p>
          <a:p>
            <a:pPr indent="0">
              <a:buFont typeface="Arial" panose="020B0604020202020204"/>
              <a:buNone/>
            </a:pPr>
            <a:r>
              <a:rPr lang="en-US" altLang="en-US" sz="1600" b="1"/>
              <a:t>5. Entitas Keterangan</a:t>
            </a:r>
            <a:endParaRPr lang="en-US" altLang="en-US" sz="1400"/>
          </a:p>
          <a:p>
            <a:pPr indent="0">
              <a:buFont typeface="Arial" panose="020B0604020202020204"/>
              <a:buNone/>
            </a:pPr>
            <a:r>
              <a:rPr lang="en-US" altLang="en-US" sz="1400"/>
              <a:t>Digunakan untuk menyimpan catatan tambahan terkait tugas.</a:t>
            </a:r>
            <a:endParaRPr lang="en-US" altLang="en-US" sz="1400"/>
          </a:p>
          <a:p>
            <a:pPr indent="0">
              <a:buFont typeface="Arial" panose="020B0604020202020204"/>
              <a:buNone/>
            </a:pPr>
            <a:r>
              <a:rPr lang="en-US" altLang="en-US" sz="1400"/>
              <a:t>Atribut: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ID Keterangan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Jenis Pekerjaan</a:t>
            </a:r>
            <a:endParaRPr lang="en-US" altLang="en-US" sz="1400"/>
          </a:p>
          <a:p>
            <a:pPr indent="0">
              <a:buFont typeface="Arial" panose="020B0604020202020204"/>
              <a:buNone/>
            </a:pPr>
            <a:r>
              <a:rPr lang="en-US" altLang="en-US" sz="1400"/>
              <a:t>(Keseluruhan / Sebagian / Perbaikan)</a:t>
            </a:r>
            <a:endParaRPr lang="en-US" altLang="en-US" sz="1400"/>
          </a:p>
          <a:p>
            <a:pPr>
              <a:buFont typeface="Arial" panose="020B0604020202020204"/>
              <a:buChar char="•"/>
            </a:pPr>
            <a:r>
              <a:rPr lang="en-US" altLang="en-US" sz="1400"/>
              <a:t>Deskripsi Keterangan</a:t>
            </a:r>
            <a:endParaRPr lang="en-US" altLang="en-US" sz="1400"/>
          </a:p>
          <a:p>
            <a:pPr indent="0">
              <a:buFont typeface="Arial" panose="020B0604020202020204"/>
              <a:buNone/>
            </a:pPr>
            <a:r>
              <a:rPr lang="en-US" altLang="en-US" sz="1400"/>
              <a:t>(contoh: Perbaikan fitur penjadwalan tugas berdasarkan masukan Pak Isnandar)</a:t>
            </a:r>
            <a:endParaRPr lang="en-US" altLang="en-US" sz="1400"/>
          </a:p>
          <a:p>
            <a:pPr indent="0">
              <a:buFont typeface="Arial" panose="020B0604020202020204"/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Kebutuhan Fungsional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500"/>
              <a:t>Sistem dapat melakukan login dan logout pengguna sesuai hak akses.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menyimpan dan mengelola data pengguna.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menambahkan data tugas yang dikerjakan.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menampilkan daftar tugas berdasarkan pengguna.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mengatur hari dan waktu pelaksanaan atau deadline tugas.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mengubah dan menghapus data tugas.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menyimpan keterangan pengerjaan tugas, apakah dikerjakan secara keseluruhan, sebagian, atau perbaikan berdasarkan masukan Pak Isnandar.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Sistem dapat menampilkan detail tugas beserta hari, waktu, dan keterangannya.</a:t>
            </a:r>
            <a:endParaRPr lang="en-US" alt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Kebutuhan Non Fungsional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700"/>
              <a:t>Sistem harus memiliki tampilan antarmuka yang sederhana dan mudah dipahami oleh pengguna.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Sistem harus memiliki waktu respon yang cepat saat mengakses data tugas.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Sistem harus dapat menjaga keamanan data pengguna (username dan password).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Sistem harus dapat berjalan dengan stabil tanpa sering mengalami error.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Sistem harus dapat diakses melalui perangkat komputer/laptop.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Sistem harus memiliki struktur data yang terorganisir untuk memudahkan pengembangan selanjutnya.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Sistem harus mendukung kemudahan pemeliharaan (maintenance) jika terjadi perubahan atau penambahan fitur.</a:t>
            </a:r>
            <a:endParaRPr lang="en-US" alt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perencanaan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lingup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US" dirty="0"/>
          </a:p>
          <a:p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proyek</a:t>
            </a:r>
            <a:endParaRPr lang="en-US" dirty="0"/>
          </a:p>
          <a:p>
            <a:r>
              <a:rPr lang="en-US" dirty="0" err="1"/>
              <a:t>Estimasi</a:t>
            </a:r>
            <a:r>
              <a:rPr lang="en-US" dirty="0"/>
              <a:t> </a:t>
            </a:r>
            <a:r>
              <a:rPr lang="en-US" dirty="0" err="1"/>
              <a:t>biaya</a:t>
            </a:r>
            <a:endParaRPr lang="en-US" dirty="0"/>
          </a:p>
          <a:p>
            <a:r>
              <a:rPr lang="en-US" dirty="0" err="1"/>
              <a:t>Pembagian</a:t>
            </a:r>
            <a:r>
              <a:rPr lang="en-US" dirty="0"/>
              <a:t> </a:t>
            </a:r>
            <a:r>
              <a:rPr lang="en-US" dirty="0" err="1"/>
              <a:t>tugas</a:t>
            </a:r>
            <a:endParaRPr lang="en-US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D" dirty="0"/>
            </a:b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D" b="1" dirty="0"/>
              <a:t> </a:t>
            </a:r>
            <a:r>
              <a:rPr lang="en-ID" b="1" dirty="0" err="1"/>
              <a:t>Ruang</a:t>
            </a:r>
            <a:r>
              <a:rPr lang="en-ID" b="1" dirty="0"/>
              <a:t> </a:t>
            </a:r>
            <a:r>
              <a:rPr lang="en-ID" b="1" dirty="0" err="1"/>
              <a:t>Lingkup</a:t>
            </a:r>
            <a:r>
              <a:rPr lang="en-ID" b="1" dirty="0"/>
              <a:t> </a:t>
            </a:r>
            <a:r>
              <a:rPr lang="en-ID" b="1" dirty="0" err="1"/>
              <a:t>Proyek</a:t>
            </a:r>
            <a:endParaRPr lang="en-ID" dirty="0"/>
          </a:p>
          <a:p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:</a:t>
            </a:r>
            <a:endParaRPr lang="en-ID" dirty="0"/>
          </a:p>
          <a:p>
            <a:pPr lvl="0"/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Mengedit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Menghapus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  <a:p>
            <a:r>
              <a:rPr lang="en-ID" dirty="0" err="1"/>
              <a:t>Menandai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selesai</a:t>
            </a:r>
            <a:r>
              <a:rPr lang="en-ID" dirty="0"/>
              <a:t>.</a:t>
            </a:r>
            <a:endParaRPr lang="en-ID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proyek</a:t>
            </a:r>
            <a:endParaRPr lang="en-ID" dirty="0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205105" y="1294765"/>
          <a:ext cx="8712200" cy="5434330"/>
        </p:xfrm>
        <a:graphic>
          <a:graphicData uri="http://schemas.openxmlformats.org/drawingml/2006/table">
            <a:tbl>
              <a:tblPr/>
              <a:tblGrid>
                <a:gridCol w="1742440"/>
                <a:gridCol w="1742440"/>
                <a:gridCol w="1742440"/>
                <a:gridCol w="1742440"/>
                <a:gridCol w="1742440"/>
              </a:tblGrid>
              <a:tr h="0">
                <a:tc>
                  <a:txBody>
                    <a:bodyPr/>
                    <a:p>
                      <a:r>
                        <a:rPr sz="700"/>
                        <a:t>ID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Tugas / Tahapan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Durasi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Waktu Pelaksanaan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Keterangan Aktivitas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9425">
                <a:tc>
                  <a:txBody>
                    <a:bodyPr/>
                    <a:p>
                      <a:r>
                        <a:rPr sz="700"/>
                        <a:t>1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Tahap Komunikasi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10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24 Sep – 3 Okt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Melakukan komunikasi awal dengan pengguna dan dosen untuk memahami permasalahan, kebutuhan sistem, dan tujuan pengembangan aplikasi.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700"/>
                        <a:t>1.1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Analisis Masalah &amp; Kebutuhan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5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24 Sep – 28 Sep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Menganalisis permasalahan serta mengidentifikasi kebutuhan fungsional dan non-fungsional sistem.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r>
                        <a:rPr sz="700"/>
                        <a:t>1.2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Pengumpulan Data User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5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29 Sep – 3 Okt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Mengumpulkan data melalui diskusi, observasi, dan studi dokumen sebagai dasar perancangan sistem.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700"/>
                        <a:t>2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Tahap Perencanaan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10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4 Okt – 13 Okt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Menyusun rencana pengembangan sistem agar pengerjaan berjalan terstruktur dan terarah.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700"/>
                        <a:t>2.1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Penentuan Ruang Lingkup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5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4 Okt – 8 Okt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Menentukan batasan sistem, fitur yang dikerjakan, serta ruang lingkup pengembangan.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700"/>
                        <a:t>2.2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Estimasi Sumber Daya &amp; Biaya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5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9 Okt – 13 Okt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Melakukan estimasi kebutuhan waktu, sumber daya, dan biaya selama pengembangan sistem.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700"/>
                        <a:t>3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Tahap Pemodelan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30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14 Okt – 12 Nov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Membuat model sistem sebagai gambaran awal sebelum implementasi dilakukan.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700"/>
                        <a:t>3.1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Desain UML (Use Case &amp; Class)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12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14 Okt – 25 Okt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Merancang Use Case Diagram dan Class Diagram untuk menggambarkan alur sistem dan relasi antar entitas.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700"/>
                        <a:t>3.2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Desain UI/UX (Mockup &amp; Prototype)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18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26 Okt – 12 Nov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Merancang mockup dan prototype antarmuka agar sistem mudah digunakan dan sesuai kebutuhan pengguna.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9415">
                <a:tc>
                  <a:txBody>
                    <a:bodyPr/>
                    <a:p>
                      <a:r>
                        <a:rPr sz="700"/>
                        <a:t>4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Tahap Implementasi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20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13 Nov – 2 Des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Mengimplementasikan desain sistem ke dalam bentuk aplikasi sesuai rancangan yang telah dibuat.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r>
                        <a:rPr sz="700"/>
                        <a:t>4.1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Implementasi Fitur Utama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20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13 Nov – 2 Des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Mengembangkan fitur utama seperti manajemen pengguna, tugas, waktu, hari, dan keterangan.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700"/>
                        <a:t>5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Tahap Pengujian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14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3 Des – 16 Des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Melakukan pengujian sistem untuk memastikan seluruh fitur berjalan sesuai kebutuhan.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675">
                <a:tc>
                  <a:txBody>
                    <a:bodyPr/>
                    <a:p>
                      <a:r>
                        <a:rPr sz="700"/>
                        <a:t>5.1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Testing Fitur (CRUD &amp; Alarm)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14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3 Des – 16 Des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Menguji fungsi CRUD dan alarm/notifikasi serta memperbaiki bug yang ditemukan.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r>
                        <a:rPr sz="700"/>
                        <a:t>6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Tahap Evaluasi &amp; Revisi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10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17 Des – 26 Des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Melakukan evaluasi sistem dan perbaikan berdasarkan hasil pengujian serta masukan dari dosen.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700"/>
                        <a:t>7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Finalisasi &amp; Dokumentasi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5 Hari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27 Des – 31 Des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/>
                        <a:t>Melakukan penyempurnaan akhir sistem dan menyusun laporan akhir sebagai dokumentasi proyek.</a:t>
                      </a:r>
                      <a:endParaRPr sz="7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Estimasi</a:t>
            </a:r>
            <a:r>
              <a:rPr lang="en-US" dirty="0"/>
              <a:t> </a:t>
            </a:r>
            <a:r>
              <a:rPr lang="en-US" dirty="0" err="1"/>
              <a:t>biaya</a:t>
            </a:r>
            <a:endParaRPr lang="en-ID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851501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Posisi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Durasi Kerja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Estimasi Gaji/Bulan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Biaya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Project Manager / Analyst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2,5 Bulan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6.000.000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15.000.000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UI/UX Designer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Bulan (Pemodelan) </a:t>
                      </a:r>
                      <a:r>
                        <a:rPr lang="en-ID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5.000.000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5.000.000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 Developer (HTML/CSS)</a:t>
                      </a:r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Bulan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5.500.000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11.000.000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QA / Tester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0,5 Bulan </a:t>
                      </a:r>
                      <a:r>
                        <a:rPr lang="en-ID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4.500.000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 2.250.000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D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Biaya Personil</a:t>
                      </a:r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ID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Rp</a:t>
                      </a:r>
                      <a:r>
                        <a:rPr lang="en-ID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33.250.000</a:t>
                      </a:r>
                      <a:endParaRPr lang="en-ID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D" dirty="0"/>
          </a:p>
          <a:p>
            <a:r>
              <a:rPr lang="en-ID" b="1" dirty="0" err="1"/>
              <a:t>Pengguna</a:t>
            </a:r>
            <a:endParaRPr lang="en-ID" dirty="0"/>
          </a:p>
          <a:p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menambah</a:t>
            </a:r>
            <a:r>
              <a:rPr lang="en-ID" dirty="0"/>
              <a:t>, </a:t>
            </a:r>
            <a:r>
              <a:rPr lang="en-ID" dirty="0" err="1"/>
              <a:t>mengedit</a:t>
            </a:r>
            <a:r>
              <a:rPr lang="en-ID" dirty="0"/>
              <a:t>, </a:t>
            </a:r>
            <a:r>
              <a:rPr lang="en-ID" dirty="0" err="1"/>
              <a:t>menghapus</a:t>
            </a:r>
            <a:r>
              <a:rPr lang="en-ID" dirty="0"/>
              <a:t>,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Use Case Diagram</a:t>
            </a:r>
            <a:br>
              <a:rPr lang="en-ID" dirty="0"/>
            </a:br>
            <a:endParaRPr lang="en-ID" dirty="0"/>
          </a:p>
        </p:txBody>
      </p:sp>
      <p:pic>
        <p:nvPicPr>
          <p:cNvPr id="6" name="Picture 5" descr="ChatGPT Image Dec 31, 2025, 12_07_2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894715"/>
            <a:ext cx="8364220" cy="5733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Activity Diagram</a:t>
            </a:r>
            <a:br>
              <a:rPr lang="en-ID" dirty="0"/>
            </a:b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rcRect b="7234"/>
          <a:stretch>
            <a:fillRect/>
          </a:stretch>
        </p:blipFill>
        <p:spPr>
          <a:xfrm>
            <a:off x="1532866" y="1600200"/>
            <a:ext cx="6078268" cy="452596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Diagram activity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baru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rcRect b="6328"/>
          <a:stretch>
            <a:fillRect/>
          </a:stretch>
        </p:blipFill>
        <p:spPr>
          <a:xfrm>
            <a:off x="1960819" y="1600200"/>
            <a:ext cx="5222362" cy="452596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activity </a:t>
            </a:r>
            <a:r>
              <a:rPr lang="en-US" dirty="0" err="1"/>
              <a:t>pengecekan</a:t>
            </a:r>
            <a:r>
              <a:rPr lang="en-US" dirty="0"/>
              <a:t> </a:t>
            </a:r>
            <a:r>
              <a:rPr lang="en-US" dirty="0" err="1"/>
              <a:t>tugas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rcRect b="7987"/>
          <a:stretch>
            <a:fillRect/>
          </a:stretch>
        </p:blipFill>
        <p:spPr>
          <a:xfrm>
            <a:off x="2267339" y="1628800"/>
            <a:ext cx="5910403" cy="4525963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363894" y="2394676"/>
            <a:ext cx="33440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:</a:t>
            </a:r>
            <a:endParaRPr lang="en-ID" dirty="0"/>
          </a:p>
          <a:p>
            <a:pPr lvl="0"/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daftar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: </a:t>
            </a:r>
            <a:r>
              <a:rPr lang="en-ID" dirty="0" err="1"/>
              <a:t>tambah</a:t>
            </a:r>
            <a:r>
              <a:rPr lang="en-ID" dirty="0"/>
              <a:t>/edit/</a:t>
            </a:r>
            <a:r>
              <a:rPr lang="en-ID" dirty="0" err="1"/>
              <a:t>hapus</a:t>
            </a:r>
            <a:r>
              <a:rPr lang="en-ID" dirty="0"/>
              <a:t>/</a:t>
            </a:r>
            <a:r>
              <a:rPr lang="en-ID" dirty="0" err="1"/>
              <a:t>centang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.</a:t>
            </a:r>
            <a:endParaRPr lang="en-ID" dirty="0"/>
          </a:p>
          <a:p>
            <a:pPr lvl="0"/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memperbarui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.</a:t>
            </a:r>
            <a:endParaRPr lang="en-ID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  <a:endParaRPr lang="en-ID" dirty="0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ChatGPT Image Dec 31, 2025, 12_22_2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68730"/>
            <a:ext cx="7723505" cy="51485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Sketsa</a:t>
            </a:r>
            <a:br>
              <a:rPr lang="en-US" dirty="0"/>
            </a:br>
            <a:endParaRPr lang="en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0" y="980728"/>
            <a:ext cx="8100900" cy="5400600"/>
          </a:xfr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5*411"/>
  <p:tag name="TABLE_ENDDRAG_RECT" val="16*101*685*4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6957</Words>
  <Application>WPS Presentation</Application>
  <PresentationFormat>On-screen Show (4:3)</PresentationFormat>
  <Paragraphs>376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Google Sans Text</vt:lpstr>
      <vt:lpstr>Liberation Mono</vt:lpstr>
      <vt:lpstr>Calibri</vt:lpstr>
      <vt:lpstr>Microsoft YaHei</vt:lpstr>
      <vt:lpstr>Arial Unicode MS</vt:lpstr>
      <vt:lpstr>Arial</vt:lpstr>
      <vt:lpstr>Office Theme</vt:lpstr>
      <vt:lpstr>Website to do list</vt:lpstr>
      <vt:lpstr>PowerPoint 演示文稿</vt:lpstr>
      <vt:lpstr>metode pengembangan</vt:lpstr>
      <vt:lpstr>Pengumpulan Data (Collecting) </vt:lpstr>
      <vt:lpstr>Analisis kebutuhan</vt:lpstr>
      <vt:lpstr>PowerPoint 演示文稿</vt:lpstr>
      <vt:lpstr>PowerPoint 演示文稿</vt:lpstr>
      <vt:lpstr>Tahap perencanaan</vt:lpstr>
      <vt:lpstr> </vt:lpstr>
      <vt:lpstr>Jadwal proyek</vt:lpstr>
      <vt:lpstr>Estimasi biaya</vt:lpstr>
      <vt:lpstr>Aktor sistem</vt:lpstr>
      <vt:lpstr>Use Case Diagram </vt:lpstr>
      <vt:lpstr>Activity Diagram </vt:lpstr>
      <vt:lpstr>Diagram activity pembuatan tugas baru</vt:lpstr>
      <vt:lpstr>Diagram activity pengecekan tugas</vt:lpstr>
      <vt:lpstr>Class diagram</vt:lpstr>
      <vt:lpstr>Sketsa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to do list</dc:title>
  <dc:creator>Pongo</dc:creator>
  <cp:lastModifiedBy>Adinata Channel HD</cp:lastModifiedBy>
  <cp:revision>10</cp:revision>
  <dcterms:created xsi:type="dcterms:W3CDTF">2025-12-24T03:16:00Z</dcterms:created>
  <dcterms:modified xsi:type="dcterms:W3CDTF">2025-12-31T05:35:02Z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1410C1233B42413799EBCE2188F03A3A_12</vt:lpwstr>
  </property>
  <property fmtid="{D5CDD505-2E9C-101B-9397-08002B2CF9AE}" pid="3" name="KSOProductBuildVer">
    <vt:lpwstr>1033-12.2.0.23196</vt:lpwstr>
  </property>
</Properties>
</file>